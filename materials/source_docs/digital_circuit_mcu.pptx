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16"/>
  </p:notesMasterIdLst>
  <p:sldIdLst>
    <p:sldId id="492" r:id="rId2"/>
    <p:sldId id="688" r:id="rId3"/>
    <p:sldId id="701" r:id="rId4"/>
    <p:sldId id="700" r:id="rId5"/>
    <p:sldId id="699" r:id="rId6"/>
    <p:sldId id="702" r:id="rId7"/>
    <p:sldId id="703" r:id="rId8"/>
    <p:sldId id="704" r:id="rId9"/>
    <p:sldId id="705" r:id="rId10"/>
    <p:sldId id="706" r:id="rId11"/>
    <p:sldId id="707" r:id="rId12"/>
    <p:sldId id="708" r:id="rId13"/>
    <p:sldId id="709" r:id="rId14"/>
    <p:sldId id="711" r:id="rId15"/>
  </p:sldIdLst>
  <p:sldSz cx="9144000" cy="6858000" type="screen4x3"/>
  <p:notesSz cx="7104063" cy="1023461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330066"/>
    <a:srgbClr val="CC3300"/>
    <a:srgbClr val="0000FF"/>
    <a:srgbClr val="FF9900"/>
    <a:srgbClr val="E5F3E8"/>
    <a:srgbClr val="FFFF00"/>
    <a:srgbClr val="99FF33"/>
    <a:srgbClr val="9966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26" autoAdjust="0"/>
    <p:restoredTop sz="94581" autoAdjust="0"/>
  </p:normalViewPr>
  <p:slideViewPr>
    <p:cSldViewPr>
      <p:cViewPr varScale="1">
        <p:scale>
          <a:sx n="128" d="100"/>
          <a:sy n="128" d="100"/>
        </p:scale>
        <p:origin x="3960" y="6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5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3836" y="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090" y="4860925"/>
            <a:ext cx="5683886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09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185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3836" y="9721851"/>
            <a:ext cx="3078639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 smtClean="0"/>
            </a:lvl1pPr>
          </a:lstStyle>
          <a:p>
            <a:pPr>
              <a:defRPr/>
            </a:pPr>
            <a:fld id="{19591B46-DEAF-4E7E-B22C-0C69C40268A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20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28BCCEF-9A20-4657-B367-7F2F64B0A94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17263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27D05B-9B0F-4171-93CF-5679D4D602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2192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2034E-0FBA-4607-A5FD-C5E713E091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8724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196975"/>
            <a:ext cx="4208463" cy="51482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1196975"/>
            <a:ext cx="4208462" cy="51482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3CD636-9776-4B36-848C-6C1FDA21B28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0685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208BEC-5E47-4C32-97B3-3DDF12F9B7D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611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C5F4D3-8615-4B5B-A09F-22B6E3FBDBF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4831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4202ED-BC4D-442C-B27C-82791834D5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14926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FFADDA-E871-41AB-9C7C-8CBD62D6686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28106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AE1ED2-BB57-43EF-888F-44CE269DB8A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19977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FF7C71-27AE-47F1-B347-2E036C8DDE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714098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1638" y="115888"/>
            <a:ext cx="2141537" cy="622935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3850" y="115888"/>
            <a:ext cx="6275388" cy="62293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70E254-5B70-412C-B341-3C9987D1790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13963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115888"/>
            <a:ext cx="6958012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196975"/>
            <a:ext cx="4208463" cy="5148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4713" y="1196975"/>
            <a:ext cx="4208462" cy="2497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4713" y="3846513"/>
            <a:ext cx="4208462" cy="2498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98869-1C4B-4D08-8A73-89D94036719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68263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115888"/>
            <a:ext cx="6958012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3850" y="1196975"/>
            <a:ext cx="4208463" cy="5148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4713" y="1196975"/>
            <a:ext cx="4208462" cy="2497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84713" y="3846513"/>
            <a:ext cx="4208462" cy="2498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B5CEAD-8B43-4DA4-A068-4065A9C53D4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20945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1042988" y="115888"/>
            <a:ext cx="6958012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23850" y="1196975"/>
            <a:ext cx="4208463" cy="2497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84713" y="1196975"/>
            <a:ext cx="4208462" cy="24971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323850" y="3846513"/>
            <a:ext cx="4208463" cy="2498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84713" y="3846513"/>
            <a:ext cx="4208462" cy="24987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39DFA5-E646-4B68-84B1-5AD7416153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2400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323850" y="115888"/>
            <a:ext cx="8569325" cy="6229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60C15E-58BB-45E5-92F9-ACF7AE4908C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4311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42988" y="115888"/>
            <a:ext cx="6958012" cy="8588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23850" y="1196975"/>
            <a:ext cx="4208463" cy="5148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4713" y="1196975"/>
            <a:ext cx="4208462" cy="5148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5D9E71-49BA-4D1D-B73E-FC52E8A678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92162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042988" y="115888"/>
            <a:ext cx="6958012" cy="858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96975"/>
            <a:ext cx="8569325" cy="5148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81750"/>
            <a:ext cx="2133600" cy="312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81750"/>
            <a:ext cx="2895600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16675"/>
            <a:ext cx="2133600" cy="28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BA64C737-4391-4379-A415-60569FC9B1F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40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1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2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3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4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5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6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7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8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49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0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1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2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3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4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5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6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7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8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59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0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1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2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3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4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5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6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7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8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69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070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1033" name="Rectangle 40"/>
          <p:cNvSpPr>
            <a:spLocks noChangeArrowheads="1"/>
          </p:cNvSpPr>
          <p:nvPr userDrawn="1"/>
        </p:nvSpPr>
        <p:spPr bwMode="ltGray">
          <a:xfrm>
            <a:off x="323850" y="260350"/>
            <a:ext cx="438150" cy="474663"/>
          </a:xfrm>
          <a:prstGeom prst="rect">
            <a:avLst/>
          </a:prstGeom>
          <a:solidFill>
            <a:srgbClr val="FFC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1034" name="Rectangle 41"/>
          <p:cNvSpPr>
            <a:spLocks noChangeArrowheads="1"/>
          </p:cNvSpPr>
          <p:nvPr userDrawn="1"/>
        </p:nvSpPr>
        <p:spPr bwMode="ltGray">
          <a:xfrm>
            <a:off x="692150" y="269875"/>
            <a:ext cx="328613" cy="474663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1035" name="Rectangle 42"/>
          <p:cNvSpPr>
            <a:spLocks noChangeArrowheads="1"/>
          </p:cNvSpPr>
          <p:nvPr userDrawn="1"/>
        </p:nvSpPr>
        <p:spPr bwMode="ltGray">
          <a:xfrm>
            <a:off x="541338" y="646113"/>
            <a:ext cx="422275" cy="474662"/>
          </a:xfrm>
          <a:prstGeom prst="rect">
            <a:avLst/>
          </a:prstGeom>
          <a:solidFill>
            <a:srgbClr val="3333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1036" name="Rectangle 43"/>
          <p:cNvSpPr>
            <a:spLocks noChangeArrowheads="1"/>
          </p:cNvSpPr>
          <p:nvPr userDrawn="1"/>
        </p:nvSpPr>
        <p:spPr bwMode="ltGray">
          <a:xfrm>
            <a:off x="911225" y="646113"/>
            <a:ext cx="368300" cy="474662"/>
          </a:xfrm>
          <a:prstGeom prst="rect">
            <a:avLst/>
          </a:prstGeom>
          <a:gradFill rotWithShape="0">
            <a:gsLst>
              <a:gs pos="0">
                <a:srgbClr val="3333CC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1037" name="Rectangle 44"/>
          <p:cNvSpPr>
            <a:spLocks noChangeArrowheads="1"/>
          </p:cNvSpPr>
          <p:nvPr userDrawn="1"/>
        </p:nvSpPr>
        <p:spPr bwMode="ltGray">
          <a:xfrm>
            <a:off x="127000" y="573088"/>
            <a:ext cx="560388" cy="42227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FF0000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1038" name="Rectangle 45"/>
          <p:cNvSpPr>
            <a:spLocks noChangeArrowheads="1"/>
          </p:cNvSpPr>
          <p:nvPr userDrawn="1"/>
        </p:nvSpPr>
        <p:spPr bwMode="gray">
          <a:xfrm>
            <a:off x="762000" y="115888"/>
            <a:ext cx="31750" cy="1052512"/>
          </a:xfrm>
          <a:prstGeom prst="rect">
            <a:avLst/>
          </a:prstGeom>
          <a:solidFill>
            <a:srgbClr val="1C1C1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ahoma" panose="020B0604030504040204" pitchFamily="34" charset="0"/>
            </a:endParaRPr>
          </a:p>
        </p:txBody>
      </p:sp>
      <p:sp>
        <p:nvSpPr>
          <p:cNvPr id="1039" name="Rectangle 46"/>
          <p:cNvSpPr>
            <a:spLocks noChangeArrowheads="1"/>
          </p:cNvSpPr>
          <p:nvPr userDrawn="1"/>
        </p:nvSpPr>
        <p:spPr bwMode="gray">
          <a:xfrm>
            <a:off x="442913" y="981075"/>
            <a:ext cx="8226425" cy="31750"/>
          </a:xfrm>
          <a:prstGeom prst="rect">
            <a:avLst/>
          </a:pr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2" r:id="rId1"/>
    <p:sldLayoutId id="2147484007" r:id="rId2"/>
    <p:sldLayoutId id="2147484008" r:id="rId3"/>
    <p:sldLayoutId id="2147484009" r:id="rId4"/>
    <p:sldLayoutId id="2147484010" r:id="rId5"/>
    <p:sldLayoutId id="2147484011" r:id="rId6"/>
    <p:sldLayoutId id="2147484012" r:id="rId7"/>
    <p:sldLayoutId id="2147484013" r:id="rId8"/>
    <p:sldLayoutId id="2147484014" r:id="rId9"/>
    <p:sldLayoutId id="2147484015" r:id="rId10"/>
    <p:sldLayoutId id="2147484016" r:id="rId11"/>
    <p:sldLayoutId id="2147484017" r:id="rId12"/>
    <p:sldLayoutId id="2147484018" r:id="rId13"/>
    <p:sldLayoutId id="2147484019" r:id="rId14"/>
    <p:sldLayoutId id="2147484020" r:id="rId15"/>
    <p:sldLayoutId id="2147484021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600">
          <a:solidFill>
            <a:schemeClr val="tx1"/>
          </a:solidFill>
          <a:latin typeface="+mn-lt"/>
          <a:ea typeface="+mn-ea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300">
          <a:solidFill>
            <a:schemeClr val="tx1"/>
          </a:solidFill>
          <a:latin typeface="+mn-lt"/>
          <a:ea typeface="+mn-ea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81000" y="838200"/>
            <a:ext cx="6999288" cy="1304925"/>
          </a:xfrm>
        </p:spPr>
        <p:txBody>
          <a:bodyPr/>
          <a:lstStyle/>
          <a:p>
            <a:pPr eaLnBrk="1" hangingPunct="1"/>
            <a:r>
              <a:rPr lang="zh-CN" altLang="en-US" sz="4400" dirty="0">
                <a:ea typeface="楷体_GB2312" pitchFamily="49" charset="-122"/>
              </a:rPr>
              <a:t>课程设计要求</a:t>
            </a:r>
            <a:endParaRPr lang="en-US" altLang="zh-CN" sz="4400" dirty="0">
              <a:ea typeface="楷体_GB2312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/>
          <a:srcRect l="4742" t="4954" r="4464" b="3393"/>
          <a:stretch/>
        </p:blipFill>
        <p:spPr>
          <a:xfrm>
            <a:off x="2057400" y="2971800"/>
            <a:ext cx="3657600" cy="2819400"/>
          </a:xfrm>
          <a:prstGeom prst="rect">
            <a:avLst/>
          </a:prstGeom>
          <a:ln>
            <a:solidFill>
              <a:schemeClr val="tx2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课程设计概述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BE7D66D-6BEA-4DCF-BC37-F2274B122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9" y="1125538"/>
            <a:ext cx="799941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课程设计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ALU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的设计与实现</a:t>
            </a:r>
            <a:endParaRPr lang="en-US" altLang="zh-CN" sz="2400" b="1" kern="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课程设计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MCU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设计实现及应用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打榜评分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</a:p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提交内容：设计报告、源代码、测试程序及测试结果。</a:t>
            </a:r>
            <a:r>
              <a:rPr lang="zh-CN" altLang="en-US" sz="2400" b="1" kern="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如有抄袭情况，将取消考试资格。</a:t>
            </a:r>
            <a:endParaRPr lang="en-US" altLang="zh-CN" sz="2400" b="1" kern="0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533400" indent="-533400" eaLnBrk="1" hangingPunct="1"/>
            <a:r>
              <a:rPr lang="zh-CN" altLang="en-US" sz="2400" b="1" kern="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考核方式：竞赛式考核＋应用设计（排序、</a:t>
            </a:r>
            <a:r>
              <a:rPr lang="en-US" altLang="zh-CN" sz="2400" b="1" kern="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FFT</a:t>
            </a:r>
            <a:r>
              <a:rPr lang="zh-CN" altLang="en-US" sz="2400" b="1" kern="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）</a:t>
            </a:r>
            <a:endParaRPr lang="en-US" altLang="zh-CN" sz="2400" b="1" kern="0" dirty="0">
              <a:solidFill>
                <a:srgbClr val="FF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组队完成</a:t>
            </a:r>
            <a:r>
              <a:rPr lang="en-US" altLang="zh-CN" sz="2400" b="1" kern="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3</a:t>
            </a:r>
            <a:r>
              <a:rPr lang="zh-CN" altLang="en-US" sz="2400" b="1" kern="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人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一组，设组长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人，组员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人。教学团队给出设计的平均成绩，由</a:t>
            </a:r>
            <a:r>
              <a:rPr lang="zh-CN" altLang="en-US" sz="2400" b="1" kern="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组长分配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每个成员课程设计成绩；如</a:t>
            </a:r>
            <a:r>
              <a:rPr lang="zh-CN" altLang="en-US" sz="2400" b="1" kern="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团队成员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对组长分配有异议，可向教学团队提出复议，根据实际情况重新分配。</a:t>
            </a:r>
            <a:endParaRPr lang="en-US" altLang="zh-CN" sz="2400" b="1" kern="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考核时间期末考试后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暂定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7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月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5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日下午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14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30)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，报告提交时间为打榜验收后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5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天内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(7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月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10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日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。</a:t>
            </a:r>
            <a:endParaRPr lang="en-US" altLang="zh-CN" sz="2400" b="1" kern="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6154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课程设计说明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5281F4C-8D47-4F66-BBB7-499D7E5B5A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1125538"/>
            <a:ext cx="8640763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ALU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的设计与实现：建议门级描述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MCU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的设计与实现：可以采用行为级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MCU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需至少支持</a:t>
            </a:r>
            <a:r>
              <a:rPr lang="en-US" altLang="zh-CN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ADD</a:t>
            </a:r>
            <a:r>
              <a:rPr lang="zh-CN" altLang="en-US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SUB</a:t>
            </a:r>
            <a:r>
              <a:rPr lang="zh-CN" altLang="en-US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AND</a:t>
            </a:r>
            <a:r>
              <a:rPr lang="zh-CN" altLang="en-US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OR</a:t>
            </a:r>
            <a:r>
              <a:rPr lang="zh-CN" altLang="en-US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MOV</a:t>
            </a:r>
            <a:r>
              <a:rPr lang="zh-CN" altLang="en-US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LDR</a:t>
            </a:r>
            <a:r>
              <a:rPr lang="zh-CN" altLang="en-US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STR</a:t>
            </a:r>
            <a:r>
              <a:rPr lang="zh-CN" altLang="en-US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B/BL</a:t>
            </a: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可在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ARM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指令集内选择扩展支持更多指令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ALU/MCU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结构不限制（严格遵守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ARM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指令集）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流水、超流水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单指令多操作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硬件加速核（乘法器）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多核并行</a:t>
            </a:r>
            <a:endParaRPr lang="en-US" altLang="zh-CN" sz="2400" b="1" dirty="0">
              <a:latin typeface="楷体_GB2312" pitchFamily="49" charset="-122"/>
              <a:ea typeface="楷体_GB2312" pitchFamily="49" charset="-122"/>
            </a:endParaRPr>
          </a:p>
          <a:p>
            <a:pPr marL="800100" lvl="1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…</a:t>
            </a:r>
          </a:p>
          <a:p>
            <a:pPr marL="742950" lvl="1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endParaRPr lang="zh-CN" altLang="en-US" sz="2400" b="1" dirty="0">
              <a:latin typeface="Tahoma" pitchFamily="34" charset="0"/>
            </a:endParaRPr>
          </a:p>
          <a:p>
            <a: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zh-CN" altLang="en-US" sz="2400" b="1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6188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课程设计验收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BE7D66D-6BEA-4DCF-BC37-F2274B122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25538"/>
            <a:ext cx="83534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 eaLnBrk="1" hangingPunct="1"/>
            <a:r>
              <a:rPr lang="zh-CN" altLang="en-US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课程设计</a:t>
            </a:r>
            <a:r>
              <a:rPr lang="en-US" altLang="zh-CN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en-US" altLang="zh-CN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ALU</a:t>
            </a:r>
            <a:r>
              <a:rPr lang="zh-CN" altLang="en-US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的设计与实现</a:t>
            </a:r>
            <a:endParaRPr lang="en-US" altLang="zh-CN" sz="2400" b="1" kern="0" dirty="0">
              <a:solidFill>
                <a:srgbClr val="C00000"/>
              </a:solidFill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0" indent="457200" eaLnBrk="1" hangingPunct="1">
              <a:buNone/>
            </a:pP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课程设计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由教学团队提供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FPGA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硬件测试平台，验收环节仅作为督促大家学习设计、测试、优化方法，不计入最终评分结果</a:t>
            </a:r>
            <a:endParaRPr lang="en-US" altLang="zh-CN" sz="2400" b="1" kern="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533400" indent="-533400" eaLnBrk="1" hangingPunct="1"/>
            <a:r>
              <a:rPr lang="zh-CN" altLang="en-US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课程设计</a:t>
            </a:r>
            <a:r>
              <a:rPr lang="en-US" altLang="zh-CN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：</a:t>
            </a:r>
            <a:r>
              <a:rPr lang="en-US" altLang="zh-CN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MCU</a:t>
            </a:r>
            <a:r>
              <a:rPr lang="zh-CN" altLang="en-US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设计实现及应用</a:t>
            </a:r>
            <a:r>
              <a:rPr lang="en-US" altLang="zh-CN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打榜评分</a:t>
            </a:r>
            <a:r>
              <a:rPr lang="en-US" altLang="zh-CN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</a:p>
          <a:p>
            <a:pPr marL="0" indent="457200" eaLnBrk="1" hangingPunct="1">
              <a:buNone/>
            </a:pPr>
            <a:r>
              <a:rPr lang="zh-CN" altLang="en-US" sz="2400" b="1" kern="0" dirty="0">
                <a:ea typeface="楷体_GB2312" panose="02010609030101010101" pitchFamily="49" charset="-122"/>
              </a:rPr>
              <a:t>课程设计</a:t>
            </a:r>
            <a:r>
              <a:rPr lang="en-US" altLang="zh-CN" sz="2400" b="1" kern="0" dirty="0">
                <a:ea typeface="楷体_GB2312" panose="02010609030101010101" pitchFamily="49" charset="-122"/>
              </a:rPr>
              <a:t>2</a:t>
            </a:r>
            <a:r>
              <a:rPr lang="zh-CN" altLang="en-US" sz="2400" b="1" kern="0" dirty="0">
                <a:ea typeface="楷体_GB2312" panose="02010609030101010101" pitchFamily="49" charset="-122"/>
              </a:rPr>
              <a:t>的评分包含四个环节</a:t>
            </a:r>
            <a:r>
              <a:rPr lang="en-US" altLang="zh-CN" sz="2400" b="1" kern="0" dirty="0">
                <a:ea typeface="楷体_GB2312" panose="02010609030101010101" pitchFamily="49" charset="-122"/>
                <a:sym typeface="Wingdings" panose="05000000000000000000" pitchFamily="2" charset="2"/>
              </a:rPr>
              <a:t>:</a:t>
            </a:r>
          </a:p>
          <a:p>
            <a:pPr marL="0" indent="457200" eaLnBrk="1" hangingPunct="1">
              <a:buNone/>
            </a:pPr>
            <a:r>
              <a:rPr lang="en-US" altLang="zh-CN" sz="2400" b="1" kern="0" dirty="0">
                <a:ea typeface="楷体_GB2312" panose="02010609030101010101" pitchFamily="49" charset="-122"/>
                <a:sym typeface="Wingdings" panose="05000000000000000000" pitchFamily="2" charset="2"/>
              </a:rPr>
              <a:t>(a)</a:t>
            </a:r>
            <a:r>
              <a:rPr lang="zh-CN" altLang="en-US" sz="2400" b="1" kern="0" dirty="0">
                <a:ea typeface="楷体_GB2312" panose="02010609030101010101" pitchFamily="49" charset="-122"/>
                <a:sym typeface="Wingdings" panose="05000000000000000000" pitchFamily="2" charset="2"/>
              </a:rPr>
              <a:t>标准指令仿真：向教学团队证明正确性</a:t>
            </a:r>
            <a:endParaRPr lang="en-US" altLang="zh-CN" sz="2400" b="1" kern="0" dirty="0"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 marL="0" indent="457200" eaLnBrk="1" hangingPunct="1">
              <a:buNone/>
            </a:pPr>
            <a:r>
              <a:rPr lang="en-US" altLang="zh-CN" sz="2400" b="1" kern="0" dirty="0">
                <a:ea typeface="楷体_GB2312" panose="02010609030101010101" pitchFamily="49" charset="-122"/>
                <a:sym typeface="Wingdings" panose="05000000000000000000" pitchFamily="2" charset="2"/>
              </a:rPr>
              <a:t>(b)</a:t>
            </a:r>
            <a:r>
              <a:rPr lang="zh-CN" altLang="en-US" sz="2400" b="1" kern="0" dirty="0">
                <a:ea typeface="楷体_GB2312" panose="02010609030101010101" pitchFamily="49" charset="-122"/>
                <a:sym typeface="Wingdings" panose="05000000000000000000" pitchFamily="2" charset="2"/>
              </a:rPr>
              <a:t>打榜测试验收：四个榜单竞赛式验收</a:t>
            </a:r>
            <a:endParaRPr lang="en-US" altLang="zh-CN" sz="2400" b="1" kern="0" dirty="0">
              <a:ea typeface="楷体_GB2312" panose="02010609030101010101" pitchFamily="49" charset="-122"/>
              <a:sym typeface="Wingdings" panose="05000000000000000000" pitchFamily="2" charset="2"/>
            </a:endParaRPr>
          </a:p>
          <a:p>
            <a:pPr marL="0" indent="457200" eaLnBrk="1" hangingPunct="1">
              <a:buNone/>
            </a:pPr>
            <a:r>
              <a:rPr lang="en-US" altLang="zh-CN" sz="2400" b="1" kern="0" dirty="0">
                <a:ea typeface="楷体_GB2312" panose="02010609030101010101" pitchFamily="49" charset="-122"/>
                <a:sym typeface="Wingdings" panose="05000000000000000000" pitchFamily="2" charset="2"/>
              </a:rPr>
              <a:t>(c)</a:t>
            </a:r>
            <a:r>
              <a:rPr lang="zh-CN" altLang="en-US" sz="2400" b="1" kern="0" dirty="0">
                <a:ea typeface="楷体_GB2312" panose="02010609030101010101" pitchFamily="49" charset="-122"/>
                <a:sym typeface="Wingdings" panose="05000000000000000000" pitchFamily="2" charset="2"/>
              </a:rPr>
              <a:t>设计报告评分：小组为单位提交设计报告</a:t>
            </a:r>
            <a:endParaRPr lang="en-US" altLang="zh-CN" sz="2400" b="1" kern="0" dirty="0">
              <a:ea typeface="楷体_GB2312" panose="02010609030101010101" pitchFamily="49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0939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课程设计报告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4BE7D66D-6BEA-4DCF-BC37-F2274B122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25538"/>
            <a:ext cx="83534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buNone/>
            </a:pP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关于设计报告：课程设计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1(ALU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设计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为课程设计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的子集，最终每组仅提交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1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份课程设计报告，需包含但不限于以下内容：</a:t>
            </a:r>
            <a:endParaRPr lang="en-US" altLang="zh-CN" sz="2400" b="1" kern="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课程设计概述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摘要：想要做什么、效果如何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</a:p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背景及意义</a:t>
            </a:r>
            <a:endParaRPr lang="en-US" altLang="zh-CN" sz="2400" b="1" kern="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目标及完成情况</a:t>
            </a:r>
            <a:endParaRPr lang="en-US" altLang="zh-CN" sz="2400" b="1" kern="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533400" indent="-533400" eaLnBrk="1" hangingPunct="1"/>
            <a:r>
              <a:rPr lang="zh-CN" altLang="en-US" sz="2400" b="1" kern="0" dirty="0">
                <a:solidFill>
                  <a:srgbClr val="C0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关键创新点及效果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可选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</a:p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详细设计报告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(1.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硬件架构设计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(ALU+MCU+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优化方法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；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软件设计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汇编指令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+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机器码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+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算法优化方法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))</a:t>
            </a:r>
          </a:p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详细测试报告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(1.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自测结果展示；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2.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标准指令测试结果展示；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3.</a:t>
            </a:r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打榜测试结果展示</a:t>
            </a:r>
            <a:r>
              <a:rPr lang="en-US" altLang="zh-CN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)</a:t>
            </a:r>
          </a:p>
          <a:p>
            <a:pPr marL="533400" indent="-533400" eaLnBrk="1" hangingPunct="1"/>
            <a:r>
              <a:rPr lang="zh-CN" altLang="en-US" sz="2400" b="1" kern="0" dirty="0">
                <a:latin typeface="楷体_GB2312" panose="02010609030101010101" pitchFamily="49" charset="-122"/>
                <a:ea typeface="楷体_GB2312" panose="02010609030101010101" pitchFamily="49" charset="-122"/>
              </a:rPr>
              <a:t>总结及展望</a:t>
            </a:r>
            <a:endParaRPr lang="en-US" altLang="zh-CN" sz="2400" b="1" kern="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533400" indent="-533400" eaLnBrk="1" hangingPunct="1"/>
            <a:endParaRPr lang="en-US" altLang="zh-CN" sz="2400" b="1" kern="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  <a:p>
            <a:pPr marL="533400" indent="-533400" eaLnBrk="1" hangingPunct="1"/>
            <a:endParaRPr lang="en-US" altLang="zh-CN" sz="2400" b="1" kern="0" dirty="0">
              <a:latin typeface="楷体_GB2312" panose="02010609030101010101" pitchFamily="49" charset="-122"/>
              <a:ea typeface="楷体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1814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课程设计评分规则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271F76-EFFA-4AC7-94B4-715772DC3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1125538"/>
            <a:ext cx="8353425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zh-CN" altLang="en-US" sz="2000" b="1" kern="0" dirty="0">
                <a:solidFill>
                  <a:srgbClr val="FF0000"/>
                </a:solidFill>
                <a:latin typeface="楷体_GB2312" panose="02010609030101010101" pitchFamily="49" charset="-122"/>
                <a:ea typeface="楷体_GB2312" panose="02010609030101010101" pitchFamily="49" charset="-122"/>
              </a:rPr>
              <a:t>竞赛式考核</a:t>
            </a:r>
            <a:endParaRPr lang="zh-CN" altLang="en-US" sz="2000" b="1" kern="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000" b="1" kern="0" dirty="0"/>
              <a:t>完成标准指令测试即及格</a:t>
            </a:r>
            <a:endParaRPr lang="en-US" altLang="zh-CN" sz="2000" b="1" kern="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000" b="1" kern="0" dirty="0"/>
              <a:t>两个应用、处理速度、硬件效率，形成</a:t>
            </a:r>
            <a:r>
              <a:rPr lang="en-US" altLang="zh-CN" sz="2000" b="1" kern="0" dirty="0"/>
              <a:t>4</a:t>
            </a:r>
            <a:r>
              <a:rPr lang="zh-CN" altLang="en-US" sz="2000" b="1" kern="0" dirty="0"/>
              <a:t>个排行榜</a:t>
            </a:r>
            <a:endParaRPr lang="en-US" altLang="zh-CN" sz="2000" b="1" kern="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000" b="1" kern="0" dirty="0"/>
              <a:t>第一名起评分</a:t>
            </a:r>
            <a:r>
              <a:rPr lang="en-US" altLang="zh-CN" sz="2000" b="1" kern="0" dirty="0"/>
              <a:t>96</a:t>
            </a:r>
            <a:r>
              <a:rPr lang="zh-CN" altLang="en-US" sz="2000" b="1" kern="0" dirty="0"/>
              <a:t>分，第二名分</a:t>
            </a:r>
            <a:r>
              <a:rPr lang="en-US" altLang="zh-CN" sz="2000" b="1" kern="0" dirty="0"/>
              <a:t>92</a:t>
            </a:r>
            <a:r>
              <a:rPr lang="zh-CN" altLang="en-US" sz="2000" b="1" kern="0" dirty="0"/>
              <a:t>分，</a:t>
            </a:r>
            <a:r>
              <a:rPr lang="en-US" altLang="zh-CN" sz="2000" b="1" kern="0" dirty="0"/>
              <a:t>…</a:t>
            </a:r>
          </a:p>
          <a:p>
            <a:pPr eaLnBrk="1" hangingPunct="1">
              <a:lnSpc>
                <a:spcPct val="150000"/>
              </a:lnSpc>
            </a:pPr>
            <a:r>
              <a:rPr lang="zh-CN" altLang="en-US" sz="2000" b="1" kern="0" dirty="0"/>
              <a:t>根据报告质量</a:t>
            </a:r>
            <a:r>
              <a:rPr lang="en-US" altLang="zh-CN" sz="2000" b="1" kern="0" dirty="0"/>
              <a:t>(</a:t>
            </a:r>
            <a:r>
              <a:rPr lang="zh-CN" altLang="en-US" sz="2000" b="1" kern="0" dirty="0"/>
              <a:t>及公开展示质量</a:t>
            </a:r>
            <a:r>
              <a:rPr lang="en-US" altLang="zh-CN" sz="2000" b="1" kern="0" dirty="0"/>
              <a:t>)±4</a:t>
            </a:r>
            <a:r>
              <a:rPr lang="zh-CN" altLang="en-US" sz="2000" b="1" kern="0" dirty="0"/>
              <a:t>分</a:t>
            </a:r>
            <a:endParaRPr lang="en-US" altLang="zh-CN" sz="2000" b="1" kern="0" dirty="0"/>
          </a:p>
          <a:p>
            <a:pPr eaLnBrk="1" hangingPunct="1">
              <a:lnSpc>
                <a:spcPct val="150000"/>
              </a:lnSpc>
            </a:pPr>
            <a:r>
              <a:rPr lang="zh-CN" altLang="en-US" sz="2000" b="1" kern="0" dirty="0"/>
              <a:t>每个队取最高排名后，从其它排行中删除相应排名，其它队依次补进</a:t>
            </a:r>
            <a:endParaRPr lang="en-US" altLang="zh-CN" sz="2000" b="1" kern="0" dirty="0">
              <a:solidFill>
                <a:srgbClr val="FF0000"/>
              </a:solidFill>
            </a:endParaRPr>
          </a:p>
          <a:p>
            <a:pPr eaLnBrk="1" hangingPunct="1">
              <a:lnSpc>
                <a:spcPct val="150000"/>
              </a:lnSpc>
            </a:pPr>
            <a:endParaRPr lang="en-US" altLang="zh-CN" sz="2000" b="1" kern="0" dirty="0"/>
          </a:p>
          <a:p>
            <a:pPr eaLnBrk="1" hangingPunct="1">
              <a:lnSpc>
                <a:spcPct val="150000"/>
              </a:lnSpc>
            </a:pPr>
            <a:endParaRPr lang="en-US" altLang="zh-CN" sz="2000" b="1" kern="0" dirty="0"/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None/>
            </a:pPr>
            <a:endParaRPr lang="en-US" altLang="zh-CN" sz="2000" b="1" kern="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C6A5FDD-99F2-4307-9128-B1218AA08A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237482"/>
              </p:ext>
            </p:extLst>
          </p:nvPr>
        </p:nvGraphicFramePr>
        <p:xfrm>
          <a:off x="1752600" y="4648200"/>
          <a:ext cx="5411788" cy="1066800"/>
        </p:xfrm>
        <a:graphic>
          <a:graphicData uri="http://schemas.openxmlformats.org/drawingml/2006/table">
            <a:tbl>
              <a:tblPr/>
              <a:tblGrid>
                <a:gridCol w="13526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26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3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3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altLang="en-US" sz="1400" kern="100" dirty="0">
                          <a:latin typeface="Calibri"/>
                          <a:ea typeface="宋体"/>
                          <a:cs typeface="Times New Roman"/>
                        </a:rPr>
                        <a:t>排序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1400" kern="100" dirty="0">
                          <a:latin typeface="Calibri"/>
                          <a:ea typeface="宋体"/>
                          <a:cs typeface="Times New Roman"/>
                        </a:rPr>
                        <a:t>FFT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速度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硬件效率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 dirty="0">
                          <a:latin typeface="Calibri"/>
                          <a:ea typeface="宋体"/>
                          <a:cs typeface="Times New Roman"/>
                        </a:rPr>
                        <a:t>速度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硬件效率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第一名队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第一名队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第一名队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第一名队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第二名队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第二名队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第二名队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zh-CN" sz="1400" kern="100">
                          <a:latin typeface="Calibri"/>
                          <a:ea typeface="宋体"/>
                          <a:cs typeface="Times New Roman"/>
                        </a:rPr>
                        <a:t>第二名队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Calibri"/>
                          <a:ea typeface="宋体"/>
                          <a:cs typeface="Times New Roman"/>
                        </a:rPr>
                        <a:t>…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Calibri"/>
                          <a:ea typeface="宋体"/>
                          <a:cs typeface="Times New Roman"/>
                        </a:rPr>
                        <a:t>…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>
                          <a:latin typeface="Calibri"/>
                          <a:ea typeface="宋体"/>
                          <a:cs typeface="Times New Roman"/>
                        </a:rPr>
                        <a:t>…</a:t>
                      </a:r>
                      <a:endParaRPr lang="zh-CN" sz="1050" kern="10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latin typeface="Calibri"/>
                          <a:ea typeface="宋体"/>
                          <a:cs typeface="Times New Roman"/>
                        </a:rPr>
                        <a:t>…</a:t>
                      </a:r>
                      <a:endParaRPr lang="zh-CN" sz="1050" kern="100" dirty="0">
                        <a:latin typeface="Calibri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9">
            <a:extLst>
              <a:ext uri="{FF2B5EF4-FFF2-40B4-BE49-F238E27FC236}">
                <a16:creationId xmlns:a16="http://schemas.microsoft.com/office/drawing/2014/main" id="{CDED08F7-F52D-4366-A806-EBD2FB789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6142038"/>
            <a:ext cx="3375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dirty="0">
                <a:latin typeface="Times New Roman" panose="02020603050405020304" pitchFamily="18" charset="0"/>
              </a:rPr>
              <a:t>注：硬件效率＝处理速度</a:t>
            </a:r>
            <a:r>
              <a:rPr lang="en-US" altLang="zh-CN" sz="1800" dirty="0">
                <a:latin typeface="Times New Roman" panose="02020603050405020304" pitchFamily="18" charset="0"/>
              </a:rPr>
              <a:t>/</a:t>
            </a:r>
            <a:r>
              <a:rPr lang="zh-CN" altLang="en-US" sz="1800" dirty="0">
                <a:latin typeface="Times New Roman" panose="02020603050405020304" pitchFamily="18" charset="0"/>
              </a:rPr>
              <a:t>资源</a:t>
            </a:r>
          </a:p>
        </p:txBody>
      </p:sp>
    </p:spTree>
    <p:extLst>
      <p:ext uri="{BB962C8B-B14F-4D97-AF65-F5344CB8AC3E}">
        <p14:creationId xmlns:p14="http://schemas.microsoft.com/office/powerpoint/2010/main" val="3675537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课程设计应用介绍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(1)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013DDF8-A190-47BC-BD36-4947DDB86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95400"/>
            <a:ext cx="853281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 eaLnBrk="1" hangingPunct="1">
              <a:lnSpc>
                <a:spcPct val="150000"/>
              </a:lnSpc>
              <a:defRPr/>
            </a:pPr>
            <a:r>
              <a:rPr lang="zh-CN" altLang="zh-CN" sz="2000" b="1" kern="0" dirty="0">
                <a:solidFill>
                  <a:srgbClr val="C00000"/>
                </a:solidFill>
              </a:rPr>
              <a:t>设计一个</a:t>
            </a:r>
            <a:r>
              <a:rPr lang="zh-CN" altLang="en-US" sz="2000" b="1" kern="0" dirty="0">
                <a:solidFill>
                  <a:srgbClr val="C00000"/>
                </a:solidFill>
              </a:rPr>
              <a:t>程序在所设计</a:t>
            </a:r>
            <a:r>
              <a:rPr lang="en-US" altLang="zh-CN" sz="2000" b="1" kern="0" dirty="0">
                <a:solidFill>
                  <a:srgbClr val="C00000"/>
                </a:solidFill>
              </a:rPr>
              <a:t>MCU</a:t>
            </a:r>
            <a:r>
              <a:rPr lang="zh-CN" altLang="zh-CN" sz="2000" b="1" kern="0" dirty="0">
                <a:solidFill>
                  <a:srgbClr val="C00000"/>
                </a:solidFill>
              </a:rPr>
              <a:t>能够完成对</a:t>
            </a:r>
            <a:r>
              <a:rPr lang="en-US" altLang="zh-CN" sz="2000" b="1" kern="0" dirty="0">
                <a:solidFill>
                  <a:srgbClr val="C00000"/>
                </a:solidFill>
              </a:rPr>
              <a:t>64</a:t>
            </a:r>
            <a:r>
              <a:rPr lang="zh-CN" altLang="zh-CN" sz="2000" b="1" kern="0" dirty="0">
                <a:solidFill>
                  <a:srgbClr val="C00000"/>
                </a:solidFill>
              </a:rPr>
              <a:t>个</a:t>
            </a:r>
            <a:r>
              <a:rPr lang="zh-CN" altLang="en-US" sz="2000" b="1" kern="0" dirty="0">
                <a:solidFill>
                  <a:srgbClr val="C00000"/>
                </a:solidFill>
              </a:rPr>
              <a:t>实数的升序排序</a:t>
            </a:r>
            <a:endParaRPr lang="en-US" altLang="zh-CN" sz="2000" b="1" kern="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kern="0" dirty="0"/>
              <a:t>全部设计必须以</a:t>
            </a:r>
            <a:r>
              <a:rPr lang="en-US" altLang="zh-CN" sz="2000" b="1" kern="0" dirty="0"/>
              <a:t>MCU</a:t>
            </a:r>
            <a:r>
              <a:rPr lang="zh-CN" altLang="zh-CN" sz="2000" b="1" kern="0" dirty="0"/>
              <a:t>的指令形式完成，不能做专用硬件芯片，最后要求展示对应汇编指令</a:t>
            </a:r>
            <a:endParaRPr lang="en-US" altLang="zh-CN" sz="2000" b="1" kern="0" dirty="0"/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kern="0" dirty="0"/>
              <a:t>展示时，外部生成一个</a:t>
            </a:r>
            <a:r>
              <a:rPr lang="en-US" altLang="zh-CN" sz="2000" b="1" kern="0" dirty="0"/>
              <a:t>ROM</a:t>
            </a:r>
            <a:r>
              <a:rPr lang="zh-CN" altLang="zh-CN" sz="2000" b="1" kern="0" dirty="0"/>
              <a:t>（名字为</a:t>
            </a:r>
            <a:r>
              <a:rPr lang="en-US" altLang="zh-CN" sz="2000" b="1" kern="0" dirty="0" err="1"/>
              <a:t>test_ROM</a:t>
            </a:r>
            <a:r>
              <a:rPr lang="en-US" altLang="zh-CN" sz="2000" b="1" kern="0" dirty="0"/>
              <a:t>,</a:t>
            </a:r>
            <a:r>
              <a:rPr lang="zh-CN" altLang="zh-CN" sz="2000" b="1" kern="0" dirty="0"/>
              <a:t>线路输出名字为</a:t>
            </a:r>
            <a:r>
              <a:rPr lang="en-US" altLang="zh-CN" sz="2000" b="1" kern="0" dirty="0" err="1"/>
              <a:t>test_vector_in</a:t>
            </a:r>
            <a:r>
              <a:rPr lang="zh-CN" altLang="zh-CN" sz="2000" b="1" kern="0" dirty="0"/>
              <a:t>）的</a:t>
            </a:r>
            <a:r>
              <a:rPr lang="en-US" altLang="zh-CN" sz="2000" b="1" kern="0" dirty="0"/>
              <a:t>IP core</a:t>
            </a:r>
            <a:r>
              <a:rPr lang="zh-CN" altLang="zh-CN" sz="2000" b="1" kern="0" dirty="0"/>
              <a:t>，测试时随机载入一个</a:t>
            </a:r>
            <a:r>
              <a:rPr lang="en-US" altLang="zh-CN" sz="2000" b="1" kern="0" dirty="0" err="1"/>
              <a:t>coe</a:t>
            </a:r>
            <a:r>
              <a:rPr lang="zh-CN" altLang="zh-CN" sz="2000" b="1" kern="0" dirty="0"/>
              <a:t>文件。作为测试向量放入到</a:t>
            </a:r>
            <a:r>
              <a:rPr lang="en-US" altLang="zh-CN" sz="2000" b="1" kern="0" dirty="0"/>
              <a:t>ROM</a:t>
            </a:r>
            <a:r>
              <a:rPr lang="zh-CN" altLang="zh-CN" sz="2000" b="1" kern="0" dirty="0"/>
              <a:t>中，然后利用</a:t>
            </a:r>
            <a:r>
              <a:rPr lang="en-US" altLang="zh-CN" sz="2000" b="1" kern="0" dirty="0"/>
              <a:t>MCU</a:t>
            </a:r>
            <a:r>
              <a:rPr lang="zh-CN" altLang="zh-CN" sz="2000" b="1" kern="0" dirty="0"/>
              <a:t>指令从此</a:t>
            </a:r>
            <a:r>
              <a:rPr lang="en-US" altLang="zh-CN" sz="2000" b="1" kern="0" dirty="0"/>
              <a:t>ROM</a:t>
            </a:r>
            <a:r>
              <a:rPr lang="zh-CN" altLang="zh-CN" sz="2000" b="1" kern="0" dirty="0"/>
              <a:t>中将数据放入内部的存储。从第一个数据开始读入进行计数器计数（计数器独立设计，位宽为</a:t>
            </a:r>
            <a:r>
              <a:rPr lang="en-US" altLang="zh-CN" sz="2000" b="1" kern="0" dirty="0"/>
              <a:t>20</a:t>
            </a:r>
            <a:r>
              <a:rPr lang="zh-CN" altLang="zh-CN" sz="2000" b="1" kern="0" dirty="0"/>
              <a:t>比特名字为</a:t>
            </a:r>
            <a:r>
              <a:rPr lang="en-US" altLang="zh-CN" sz="2000" b="1" kern="0" dirty="0" err="1"/>
              <a:t>cnt_test</a:t>
            </a:r>
            <a:r>
              <a:rPr lang="zh-CN" altLang="zh-CN" sz="2000" b="1" kern="0" dirty="0"/>
              <a:t>，一旦开始计数，中间禁止停止）</a:t>
            </a:r>
            <a:endParaRPr lang="en-US" altLang="zh-CN" sz="2000" b="1" kern="0" dirty="0"/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kern="0" dirty="0"/>
              <a:t>完成相应的操作后，一次性将数据存储到外部的</a:t>
            </a:r>
            <a:r>
              <a:rPr lang="en-US" altLang="zh-CN" sz="2000" b="1" kern="0" dirty="0"/>
              <a:t>RAM</a:t>
            </a:r>
            <a:r>
              <a:rPr lang="zh-CN" altLang="zh-CN" sz="2000" b="1" kern="0" dirty="0"/>
              <a:t>中（名字为</a:t>
            </a:r>
            <a:r>
              <a:rPr lang="en-US" altLang="zh-CN" sz="2000" b="1" kern="0" dirty="0" err="1"/>
              <a:t>verify_RAM</a:t>
            </a:r>
            <a:r>
              <a:rPr lang="en-US" altLang="zh-CN" sz="2000" b="1" kern="0" dirty="0"/>
              <a:t>,</a:t>
            </a:r>
            <a:r>
              <a:rPr lang="zh-CN" altLang="zh-CN" sz="2000" b="1" kern="0" dirty="0"/>
              <a:t>线路输入名字为</a:t>
            </a:r>
            <a:r>
              <a:rPr lang="en-US" altLang="zh-CN" sz="2000" b="1" kern="0" dirty="0" err="1"/>
              <a:t>verify_vector_out</a:t>
            </a:r>
            <a:r>
              <a:rPr lang="zh-CN" altLang="zh-CN" sz="2000" b="1" kern="0" dirty="0"/>
              <a:t>）。最后一个数据输出完成停止计数。</a:t>
            </a:r>
            <a:endParaRPr lang="en-US" altLang="zh-CN" sz="2000" b="1" kern="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9710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课程设计应用介绍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(1)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013DDF8-A190-47BC-BD36-4947DDB867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295400"/>
            <a:ext cx="87630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 eaLnBrk="1" hangingPunct="1">
              <a:lnSpc>
                <a:spcPct val="150000"/>
              </a:lnSpc>
              <a:defRPr/>
            </a:pPr>
            <a:r>
              <a:rPr lang="zh-CN" altLang="zh-CN" sz="2000" b="1" kern="0" dirty="0">
                <a:solidFill>
                  <a:srgbClr val="C00000"/>
                </a:solidFill>
              </a:rPr>
              <a:t>设计一个</a:t>
            </a:r>
            <a:r>
              <a:rPr lang="zh-CN" altLang="en-US" sz="2000" b="1" kern="0" dirty="0">
                <a:solidFill>
                  <a:srgbClr val="C00000"/>
                </a:solidFill>
              </a:rPr>
              <a:t>程序在所设计</a:t>
            </a:r>
            <a:r>
              <a:rPr lang="en-US" altLang="zh-CN" sz="2000" b="1" kern="0" dirty="0">
                <a:solidFill>
                  <a:srgbClr val="C00000"/>
                </a:solidFill>
              </a:rPr>
              <a:t>MCU</a:t>
            </a:r>
            <a:r>
              <a:rPr lang="zh-CN" altLang="zh-CN" sz="2000" b="1" kern="0" dirty="0">
                <a:solidFill>
                  <a:srgbClr val="C00000"/>
                </a:solidFill>
              </a:rPr>
              <a:t>能够完成对</a:t>
            </a:r>
            <a:r>
              <a:rPr lang="en-US" altLang="zh-CN" sz="2000" b="1" kern="0" dirty="0">
                <a:solidFill>
                  <a:srgbClr val="C00000"/>
                </a:solidFill>
              </a:rPr>
              <a:t>64</a:t>
            </a:r>
            <a:r>
              <a:rPr lang="zh-CN" altLang="zh-CN" sz="2000" b="1" kern="0" dirty="0">
                <a:solidFill>
                  <a:srgbClr val="C00000"/>
                </a:solidFill>
              </a:rPr>
              <a:t>个</a:t>
            </a:r>
            <a:r>
              <a:rPr lang="zh-CN" altLang="en-US" sz="2000" b="1" kern="0" dirty="0">
                <a:solidFill>
                  <a:srgbClr val="C00000"/>
                </a:solidFill>
              </a:rPr>
              <a:t>实数的升序排序</a:t>
            </a:r>
            <a:endParaRPr lang="en-US" altLang="zh-CN" sz="2000" b="1" kern="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dirty="0"/>
              <a:t>需要将</a:t>
            </a:r>
            <a:r>
              <a:rPr lang="en-US" altLang="zh-CN" sz="2000" b="1" dirty="0" err="1"/>
              <a:t>test_vector_in</a:t>
            </a:r>
            <a:r>
              <a:rPr lang="zh-CN" altLang="zh-CN" sz="2000" b="1" dirty="0"/>
              <a:t>，</a:t>
            </a:r>
            <a:r>
              <a:rPr lang="en-US" altLang="zh-CN" sz="2000" b="1" dirty="0" err="1"/>
              <a:t>verify_RAM</a:t>
            </a:r>
            <a:r>
              <a:rPr lang="zh-CN" altLang="zh-CN" sz="2000" b="1" dirty="0"/>
              <a:t>，</a:t>
            </a:r>
            <a:r>
              <a:rPr lang="en-US" altLang="zh-CN" sz="2000" b="1" dirty="0" err="1"/>
              <a:t>cnt_test</a:t>
            </a:r>
            <a:r>
              <a:rPr lang="zh-CN" altLang="zh-CN" sz="2000" b="1" dirty="0"/>
              <a:t>放入</a:t>
            </a:r>
            <a:r>
              <a:rPr lang="en-US" altLang="zh-CN" sz="2000" b="1" dirty="0"/>
              <a:t>ILA</a:t>
            </a:r>
            <a:r>
              <a:rPr lang="zh-CN" altLang="zh-CN" sz="2000" b="1" dirty="0"/>
              <a:t>，</a:t>
            </a:r>
            <a:r>
              <a:rPr lang="en-US" altLang="zh-CN" sz="2000" b="1" dirty="0"/>
              <a:t>ILA</a:t>
            </a:r>
            <a:r>
              <a:rPr lang="zh-CN" altLang="zh-CN" sz="2000" b="1" dirty="0"/>
              <a:t>深度设为</a:t>
            </a:r>
            <a:r>
              <a:rPr lang="en-US" altLang="zh-CN" sz="2000" b="1" dirty="0"/>
              <a:t>8192/16384(</a:t>
            </a:r>
            <a:r>
              <a:rPr lang="zh-CN" altLang="en-US" sz="2000" b="1" dirty="0"/>
              <a:t>要看到汇编指令执行的全过程</a:t>
            </a:r>
            <a:r>
              <a:rPr lang="en-US" altLang="zh-CN" sz="2000" b="1" dirty="0"/>
              <a:t>)</a:t>
            </a:r>
            <a:r>
              <a:rPr lang="zh-CN" altLang="zh-CN" sz="2000" b="1" dirty="0"/>
              <a:t>。</a:t>
            </a:r>
            <a:endParaRPr lang="en-US" altLang="zh-CN" sz="2000" b="1" dirty="0"/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dirty="0"/>
              <a:t>输入数据定点为带符号的</a:t>
            </a:r>
            <a:r>
              <a:rPr lang="en-US" altLang="zh-CN" sz="2000" b="1" dirty="0"/>
              <a:t>16</a:t>
            </a:r>
            <a:r>
              <a:rPr lang="zh-CN" altLang="zh-CN" sz="2000" b="1" dirty="0"/>
              <a:t>位整数，输出也为</a:t>
            </a:r>
            <a:r>
              <a:rPr lang="en-US" altLang="zh-CN" sz="2000" b="1" dirty="0"/>
              <a:t>16</a:t>
            </a:r>
            <a:r>
              <a:rPr lang="zh-CN" altLang="zh-CN" sz="2000" b="1" dirty="0"/>
              <a:t>位带符号整数</a:t>
            </a:r>
            <a:endParaRPr lang="en-US" altLang="zh-CN" sz="2000" b="1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sz="2000" b="1" dirty="0"/>
              <a:t>验收</a:t>
            </a:r>
            <a:r>
              <a:rPr lang="zh-CN" altLang="zh-CN" sz="2000" b="1" dirty="0"/>
              <a:t>验证时，会检查</a:t>
            </a:r>
            <a:r>
              <a:rPr lang="en-US" altLang="zh-CN" sz="2000" b="1" dirty="0" err="1"/>
              <a:t>test_vector_in</a:t>
            </a:r>
            <a:r>
              <a:rPr lang="zh-CN" altLang="zh-CN" sz="2000" b="1" dirty="0"/>
              <a:t>，</a:t>
            </a:r>
            <a:r>
              <a:rPr lang="en-US" altLang="zh-CN" sz="2000" b="1" dirty="0" err="1"/>
              <a:t>verify_RAM</a:t>
            </a:r>
            <a:r>
              <a:rPr lang="zh-CN" altLang="zh-CN" sz="2000" b="1" dirty="0"/>
              <a:t>的结果是否正确，以及功能完成后计数器的计数总量</a:t>
            </a:r>
            <a:endParaRPr lang="en-US" altLang="zh-CN" sz="2000" b="1" dirty="0"/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dirty="0"/>
              <a:t>所有结果都是上板后结果，不再以</a:t>
            </a:r>
            <a:r>
              <a:rPr lang="en-US" altLang="zh-CN" sz="2000" b="1" dirty="0"/>
              <a:t>simulation</a:t>
            </a:r>
            <a:r>
              <a:rPr lang="zh-CN" altLang="zh-CN" sz="2000" b="1" dirty="0"/>
              <a:t>结果进行任何参考。正确性就只看</a:t>
            </a:r>
            <a:r>
              <a:rPr lang="en-US" altLang="zh-CN" sz="2000" b="1" dirty="0" err="1"/>
              <a:t>test_vector_in</a:t>
            </a:r>
            <a:r>
              <a:rPr lang="zh-CN" altLang="zh-CN" sz="2000" b="1" dirty="0"/>
              <a:t>，</a:t>
            </a:r>
            <a:r>
              <a:rPr lang="en-US" altLang="zh-CN" sz="2000" b="1" dirty="0" err="1"/>
              <a:t>verify_RAM</a:t>
            </a:r>
            <a:r>
              <a:rPr lang="zh-CN" altLang="zh-CN" sz="2000" b="1" dirty="0"/>
              <a:t>，而且必须以现场提供的</a:t>
            </a:r>
            <a:r>
              <a:rPr lang="en-US" altLang="zh-CN" sz="2000" b="1" dirty="0" err="1"/>
              <a:t>coe</a:t>
            </a:r>
            <a:r>
              <a:rPr lang="zh-CN" altLang="zh-CN" sz="2000" b="1" dirty="0"/>
              <a:t>进行测试为准</a:t>
            </a:r>
            <a:endParaRPr lang="en-US" altLang="zh-CN" sz="2000" b="1" dirty="0"/>
          </a:p>
          <a:p>
            <a:pPr lvl="1">
              <a:lnSpc>
                <a:spcPct val="150000"/>
              </a:lnSpc>
              <a:defRPr/>
            </a:pPr>
            <a:r>
              <a:rPr lang="zh-CN" altLang="en-US" sz="2000" b="1" dirty="0"/>
              <a:t>实际工作时钟频率必须满足综合报告</a:t>
            </a:r>
            <a:r>
              <a:rPr lang="en-US" altLang="zh-CN" sz="2000" b="1" dirty="0"/>
              <a:t>worse case slack(WNS)</a:t>
            </a:r>
            <a:r>
              <a:rPr lang="zh-CN" altLang="en-US" sz="2000" b="1" dirty="0"/>
              <a:t>为正值</a:t>
            </a:r>
            <a:endParaRPr lang="zh-CN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249220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课程设计应用介绍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(1)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4896210-FB59-47D0-9D72-620709606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447800"/>
            <a:ext cx="8077200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 eaLnBrk="1" hangingPunct="1">
              <a:lnSpc>
                <a:spcPct val="150000"/>
              </a:lnSpc>
              <a:defRPr/>
            </a:pPr>
            <a:r>
              <a:rPr lang="zh-CN" altLang="zh-CN" sz="2000" b="1" kern="0" dirty="0">
                <a:solidFill>
                  <a:srgbClr val="C00000"/>
                </a:solidFill>
              </a:rPr>
              <a:t>设计一个</a:t>
            </a:r>
            <a:r>
              <a:rPr lang="zh-CN" altLang="en-US" sz="2000" b="1" kern="0" dirty="0">
                <a:solidFill>
                  <a:srgbClr val="C00000"/>
                </a:solidFill>
              </a:rPr>
              <a:t>程序在所设计</a:t>
            </a:r>
            <a:r>
              <a:rPr lang="en-US" altLang="zh-CN" sz="2000" b="1" kern="0" dirty="0">
                <a:solidFill>
                  <a:srgbClr val="C00000"/>
                </a:solidFill>
              </a:rPr>
              <a:t>MCU</a:t>
            </a:r>
            <a:r>
              <a:rPr lang="zh-CN" altLang="zh-CN" sz="2000" b="1" kern="0" dirty="0">
                <a:solidFill>
                  <a:srgbClr val="C00000"/>
                </a:solidFill>
              </a:rPr>
              <a:t>能够完成对</a:t>
            </a:r>
            <a:r>
              <a:rPr lang="en-US" altLang="zh-CN" sz="2000" b="1" kern="0" dirty="0">
                <a:solidFill>
                  <a:srgbClr val="C00000"/>
                </a:solidFill>
              </a:rPr>
              <a:t>64</a:t>
            </a:r>
            <a:r>
              <a:rPr lang="zh-CN" altLang="zh-CN" sz="2000" b="1" kern="0" dirty="0">
                <a:solidFill>
                  <a:srgbClr val="C00000"/>
                </a:solidFill>
              </a:rPr>
              <a:t>个</a:t>
            </a:r>
            <a:r>
              <a:rPr lang="zh-CN" altLang="en-US" sz="2000" b="1" kern="0" dirty="0">
                <a:solidFill>
                  <a:srgbClr val="C00000"/>
                </a:solidFill>
              </a:rPr>
              <a:t>实数的升序排序</a:t>
            </a:r>
            <a:endParaRPr lang="en-US" altLang="zh-CN" sz="2000" b="1" kern="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en-US" altLang="zh-CN" sz="2000" b="1" kern="0" dirty="0"/>
              <a:t>Timing report</a:t>
            </a:r>
            <a:r>
              <a:rPr lang="zh-CN" altLang="zh-CN" sz="2000" b="1" kern="0" dirty="0"/>
              <a:t>必须满足所有时序，有</a:t>
            </a:r>
            <a:r>
              <a:rPr lang="en-US" altLang="zh-CN" sz="2000" b="1" kern="0" dirty="0"/>
              <a:t>violation</a:t>
            </a:r>
            <a:r>
              <a:rPr lang="zh-CN" altLang="zh-CN" sz="2000" b="1" kern="0" dirty="0"/>
              <a:t>则设计不</a:t>
            </a:r>
            <a:r>
              <a:rPr lang="zh-CN" altLang="en-US" sz="2000" b="1" kern="0" dirty="0"/>
              <a:t>成功</a:t>
            </a:r>
            <a:r>
              <a:rPr lang="zh-CN" altLang="zh-CN" sz="2000" b="1" kern="0" dirty="0"/>
              <a:t>，最后计算时间就是</a:t>
            </a:r>
            <a:r>
              <a:rPr lang="zh-CN" altLang="en-US" sz="2000" b="1" kern="0" dirty="0"/>
              <a:t>（</a:t>
            </a:r>
            <a:r>
              <a:rPr lang="en-US" altLang="zh-CN" sz="2000" b="1" kern="0" dirty="0" err="1"/>
              <a:t>cnt</a:t>
            </a:r>
            <a:r>
              <a:rPr lang="zh-CN" altLang="zh-CN" sz="2000" b="1" kern="0" dirty="0"/>
              <a:t>计数时间</a:t>
            </a:r>
            <a:r>
              <a:rPr lang="zh-CN" altLang="en-US" sz="2000" b="1" kern="0" dirty="0"/>
              <a:t>）</a:t>
            </a:r>
            <a:r>
              <a:rPr lang="en-US" altLang="zh-CN" sz="2000" b="1" kern="0" dirty="0"/>
              <a:t>×</a:t>
            </a:r>
            <a:r>
              <a:rPr lang="zh-CN" altLang="zh-CN" sz="2000" b="1" kern="0" dirty="0"/>
              <a:t>时钟周期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kern="0" dirty="0"/>
              <a:t>硬件</a:t>
            </a:r>
            <a:r>
              <a:rPr lang="zh-CN" altLang="en-US" sz="2000" b="1" kern="0" dirty="0"/>
              <a:t>资源</a:t>
            </a:r>
            <a:r>
              <a:rPr lang="zh-CN" altLang="zh-CN" sz="2000" b="1" kern="0" dirty="0"/>
              <a:t>开销为</a:t>
            </a:r>
            <a:r>
              <a:rPr lang="zh-CN" altLang="en-US" sz="2000" b="1" kern="0" dirty="0"/>
              <a:t>：</a:t>
            </a:r>
            <a:r>
              <a:rPr lang="en-US" altLang="zh-CN" sz="2000" b="1" kern="0" dirty="0"/>
              <a:t>LUT+FF(</a:t>
            </a:r>
            <a:r>
              <a:rPr lang="zh-CN" altLang="en-US" sz="2000" b="1" kern="0" dirty="0"/>
              <a:t>换算关系：</a:t>
            </a:r>
            <a:r>
              <a:rPr lang="en-US" altLang="zh-CN" sz="2000" b="1" kern="0" dirty="0"/>
              <a:t>6*LUT+10*FF)</a:t>
            </a:r>
            <a:endParaRPr lang="en-US" altLang="zh-CN" sz="2000" b="1" kern="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212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课程设计应用介绍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(2)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10457B-70D1-4D49-AF18-E343ADA47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94" y="1447800"/>
            <a:ext cx="853281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 eaLnBrk="1" hangingPunct="1">
              <a:lnSpc>
                <a:spcPct val="150000"/>
              </a:lnSpc>
              <a:defRPr/>
            </a:pPr>
            <a:r>
              <a:rPr lang="zh-CN" altLang="zh-CN" sz="2000" b="1" kern="0" dirty="0">
                <a:solidFill>
                  <a:srgbClr val="C00000"/>
                </a:solidFill>
              </a:rPr>
              <a:t>设计一个</a:t>
            </a:r>
            <a:r>
              <a:rPr lang="zh-CN" altLang="en-US" sz="2000" b="1" kern="0" dirty="0">
                <a:solidFill>
                  <a:srgbClr val="C00000"/>
                </a:solidFill>
              </a:rPr>
              <a:t>程序在所设计</a:t>
            </a:r>
            <a:r>
              <a:rPr lang="en-US" altLang="zh-CN" sz="2000" b="1" kern="0" dirty="0">
                <a:solidFill>
                  <a:srgbClr val="C00000"/>
                </a:solidFill>
              </a:rPr>
              <a:t>MCU</a:t>
            </a:r>
            <a:r>
              <a:rPr lang="zh-CN" altLang="zh-CN" sz="2000" b="1" kern="0" dirty="0">
                <a:solidFill>
                  <a:srgbClr val="C00000"/>
                </a:solidFill>
              </a:rPr>
              <a:t>完成对</a:t>
            </a:r>
            <a:r>
              <a:rPr lang="en-US" altLang="zh-CN" sz="2000" b="1" kern="0" dirty="0">
                <a:solidFill>
                  <a:srgbClr val="C00000"/>
                </a:solidFill>
              </a:rPr>
              <a:t>8</a:t>
            </a:r>
            <a:r>
              <a:rPr lang="zh-CN" altLang="en-US" sz="2000" b="1" kern="0" dirty="0">
                <a:solidFill>
                  <a:srgbClr val="C00000"/>
                </a:solidFill>
              </a:rPr>
              <a:t>点</a:t>
            </a:r>
            <a:r>
              <a:rPr lang="en-US" altLang="zh-CN" sz="2000" b="1" kern="0" dirty="0">
                <a:solidFill>
                  <a:srgbClr val="C00000"/>
                </a:solidFill>
              </a:rPr>
              <a:t>FFT</a:t>
            </a:r>
            <a:r>
              <a:rPr lang="zh-CN" altLang="en-US" sz="2000" b="1" kern="0" dirty="0">
                <a:solidFill>
                  <a:srgbClr val="C00000"/>
                </a:solidFill>
              </a:rPr>
              <a:t>变换</a:t>
            </a:r>
            <a:r>
              <a:rPr lang="zh-CN" altLang="zh-CN" sz="2000" b="1" kern="0" dirty="0"/>
              <a:t>。</a:t>
            </a:r>
            <a:endParaRPr lang="en-US" altLang="zh-CN" sz="2000" b="1" kern="0" dirty="0"/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kern="0" dirty="0"/>
              <a:t>全部设计必须以</a:t>
            </a:r>
            <a:r>
              <a:rPr lang="en-US" altLang="zh-CN" sz="2000" b="1" kern="0" dirty="0"/>
              <a:t>MCU</a:t>
            </a:r>
            <a:r>
              <a:rPr lang="zh-CN" altLang="zh-CN" sz="2000" b="1" kern="0" dirty="0"/>
              <a:t>的指令形式完成，不能做专用硬件芯片，最后要求展示对应汇编指令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kern="0" dirty="0"/>
              <a:t>展示时，外部生成一个</a:t>
            </a:r>
            <a:r>
              <a:rPr lang="en-US" altLang="zh-CN" sz="2000" b="1" kern="0" dirty="0"/>
              <a:t>ROM</a:t>
            </a:r>
            <a:r>
              <a:rPr lang="zh-CN" altLang="zh-CN" sz="2000" b="1" kern="0" dirty="0"/>
              <a:t>（名字为</a:t>
            </a:r>
            <a:r>
              <a:rPr lang="en-US" altLang="zh-CN" sz="2000" b="1" kern="0" dirty="0" err="1"/>
              <a:t>test_ROM</a:t>
            </a:r>
            <a:r>
              <a:rPr lang="en-US" altLang="zh-CN" sz="2000" b="1" kern="0" dirty="0"/>
              <a:t>,</a:t>
            </a:r>
            <a:r>
              <a:rPr lang="zh-CN" altLang="zh-CN" sz="2000" b="1" kern="0" dirty="0"/>
              <a:t>线路输出名字为</a:t>
            </a:r>
            <a:r>
              <a:rPr lang="en-US" altLang="zh-CN" sz="2000" b="1" kern="0" dirty="0" err="1"/>
              <a:t>test_vector_in</a:t>
            </a:r>
            <a:r>
              <a:rPr lang="zh-CN" altLang="zh-CN" sz="2000" b="1" kern="0" dirty="0"/>
              <a:t>）的</a:t>
            </a:r>
            <a:r>
              <a:rPr lang="en-US" altLang="zh-CN" sz="2000" b="1" kern="0" dirty="0"/>
              <a:t>IP core</a:t>
            </a:r>
            <a:r>
              <a:rPr lang="zh-CN" altLang="zh-CN" sz="2000" b="1" kern="0" dirty="0"/>
              <a:t>，测试时随机载入一个</a:t>
            </a:r>
            <a:r>
              <a:rPr lang="en-US" altLang="zh-CN" sz="2000" b="1" kern="0" dirty="0" err="1"/>
              <a:t>coe</a:t>
            </a:r>
            <a:r>
              <a:rPr lang="zh-CN" altLang="zh-CN" sz="2000" b="1" kern="0" dirty="0"/>
              <a:t>文件。作为测试向量放入到</a:t>
            </a:r>
            <a:r>
              <a:rPr lang="en-US" altLang="zh-CN" sz="2000" b="1" kern="0" dirty="0"/>
              <a:t>ROM</a:t>
            </a:r>
            <a:r>
              <a:rPr lang="zh-CN" altLang="zh-CN" sz="2000" b="1" kern="0" dirty="0"/>
              <a:t>中包括</a:t>
            </a:r>
            <a:r>
              <a:rPr lang="en-US" altLang="zh-CN" sz="2000" b="1" kern="0" dirty="0"/>
              <a:t>8</a:t>
            </a:r>
            <a:r>
              <a:rPr lang="zh-CN" altLang="en-US" sz="2000" b="1" kern="0" dirty="0"/>
              <a:t>个采样点</a:t>
            </a:r>
            <a:r>
              <a:rPr lang="en-US" altLang="zh-CN" sz="2000" b="1" kern="0" dirty="0"/>
              <a:t>(</a:t>
            </a:r>
            <a:r>
              <a:rPr lang="zh-CN" altLang="en-US" sz="2000" b="1" kern="0" dirty="0"/>
              <a:t>包含实虚部</a:t>
            </a:r>
            <a:r>
              <a:rPr lang="en-US" altLang="zh-CN" sz="2000" b="1" kern="0" dirty="0"/>
              <a:t>)</a:t>
            </a:r>
            <a:r>
              <a:rPr lang="zh-CN" altLang="en-US" sz="2000" b="1" kern="0" dirty="0"/>
              <a:t>的测试数据</a:t>
            </a:r>
            <a:r>
              <a:rPr lang="zh-CN" altLang="zh-CN" sz="2000" b="1" kern="0" dirty="0"/>
              <a:t>，然后利用</a:t>
            </a:r>
            <a:r>
              <a:rPr lang="en-US" altLang="zh-CN" sz="2000" b="1" kern="0" dirty="0"/>
              <a:t>MCU</a:t>
            </a:r>
            <a:r>
              <a:rPr lang="zh-CN" altLang="zh-CN" sz="2000" b="1" kern="0" dirty="0"/>
              <a:t>指令从此</a:t>
            </a:r>
            <a:r>
              <a:rPr lang="en-US" altLang="zh-CN" sz="2000" b="1" kern="0" dirty="0"/>
              <a:t>ROM</a:t>
            </a:r>
            <a:r>
              <a:rPr lang="zh-CN" altLang="zh-CN" sz="2000" b="1" kern="0" dirty="0"/>
              <a:t>中将数据放入内部的存储。从第一个数据开始读入进行计数器计数（计数器独立设计，位宽为</a:t>
            </a:r>
            <a:r>
              <a:rPr lang="en-US" altLang="zh-CN" sz="2000" b="1" kern="0" dirty="0"/>
              <a:t>20</a:t>
            </a:r>
            <a:r>
              <a:rPr lang="zh-CN" altLang="zh-CN" sz="2000" b="1" kern="0" dirty="0"/>
              <a:t>比特名字为</a:t>
            </a:r>
            <a:r>
              <a:rPr lang="en-US" altLang="zh-CN" sz="2000" b="1" kern="0" dirty="0" err="1"/>
              <a:t>cnt_test</a:t>
            </a:r>
            <a:r>
              <a:rPr lang="zh-CN" altLang="zh-CN" sz="2000" b="1" kern="0" dirty="0"/>
              <a:t>，一旦开始计数，中间禁止停止） 。</a:t>
            </a:r>
            <a:endParaRPr lang="en-US" altLang="zh-CN" sz="2000" b="1" kern="0" dirty="0">
              <a:latin typeface="楷体_GB2312" pitchFamily="49" charset="-122"/>
              <a:ea typeface="楷体_GB2312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6285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课程设计应用介绍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(2)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10457B-70D1-4D49-AF18-E343ADA47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94" y="1447800"/>
            <a:ext cx="853281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 eaLnBrk="1" hangingPunct="1">
              <a:lnSpc>
                <a:spcPct val="150000"/>
              </a:lnSpc>
              <a:defRPr/>
            </a:pPr>
            <a:r>
              <a:rPr lang="zh-CN" altLang="zh-CN" sz="2000" b="1" dirty="0">
                <a:solidFill>
                  <a:srgbClr val="C00000"/>
                </a:solidFill>
              </a:rPr>
              <a:t>设计一个</a:t>
            </a:r>
            <a:r>
              <a:rPr lang="zh-CN" altLang="en-US" sz="2000" b="1" dirty="0">
                <a:solidFill>
                  <a:srgbClr val="C00000"/>
                </a:solidFill>
              </a:rPr>
              <a:t>程序在所设计</a:t>
            </a:r>
            <a:r>
              <a:rPr lang="en-US" altLang="zh-CN" sz="2000" b="1" dirty="0">
                <a:solidFill>
                  <a:srgbClr val="C00000"/>
                </a:solidFill>
              </a:rPr>
              <a:t>MCU</a:t>
            </a:r>
            <a:r>
              <a:rPr lang="zh-CN" altLang="zh-CN" sz="2000" b="1" dirty="0">
                <a:solidFill>
                  <a:srgbClr val="C00000"/>
                </a:solidFill>
              </a:rPr>
              <a:t>完成对</a:t>
            </a:r>
            <a:r>
              <a:rPr lang="en-US" altLang="zh-CN" sz="2000" b="1" dirty="0">
                <a:solidFill>
                  <a:srgbClr val="C00000"/>
                </a:solidFill>
              </a:rPr>
              <a:t>8</a:t>
            </a:r>
            <a:r>
              <a:rPr lang="zh-CN" altLang="en-US" sz="2000" b="1" dirty="0">
                <a:solidFill>
                  <a:srgbClr val="C00000"/>
                </a:solidFill>
              </a:rPr>
              <a:t>点</a:t>
            </a:r>
            <a:r>
              <a:rPr lang="en-US" altLang="zh-CN" sz="2000" b="1" dirty="0">
                <a:solidFill>
                  <a:srgbClr val="C00000"/>
                </a:solidFill>
              </a:rPr>
              <a:t>FFT</a:t>
            </a:r>
            <a:r>
              <a:rPr lang="zh-CN" altLang="en-US" sz="2000" b="1" dirty="0">
                <a:solidFill>
                  <a:srgbClr val="C00000"/>
                </a:solidFill>
              </a:rPr>
              <a:t>变换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marL="933450" lvl="1" indent="-533400" eaLnBrk="1" hangingPunct="1">
              <a:lnSpc>
                <a:spcPct val="150000"/>
              </a:lnSpc>
              <a:defRPr/>
            </a:pPr>
            <a:r>
              <a:rPr lang="zh-CN" altLang="zh-CN" sz="2000" b="1" dirty="0"/>
              <a:t>完成相应的操作后，一次性将数据读出，只需要读出</a:t>
            </a:r>
            <a:r>
              <a:rPr lang="en-US" altLang="zh-CN" sz="2000" b="1" dirty="0"/>
              <a:t>8</a:t>
            </a:r>
            <a:r>
              <a:rPr lang="zh-CN" altLang="en-US" sz="2000" b="1" dirty="0"/>
              <a:t>点运算结果</a:t>
            </a:r>
            <a:r>
              <a:rPr lang="zh-CN" altLang="zh-CN" sz="2000" b="1" dirty="0"/>
              <a:t>向量，存储到外部的</a:t>
            </a:r>
            <a:r>
              <a:rPr lang="en-US" altLang="zh-CN" sz="2000" b="1" dirty="0"/>
              <a:t>RAM</a:t>
            </a:r>
            <a:r>
              <a:rPr lang="zh-CN" altLang="zh-CN" sz="2000" b="1" dirty="0"/>
              <a:t>中（名字为</a:t>
            </a:r>
            <a:r>
              <a:rPr lang="en-US" altLang="zh-CN" sz="2000" b="1" dirty="0" err="1"/>
              <a:t>verify_RAM</a:t>
            </a:r>
            <a:r>
              <a:rPr lang="en-US" altLang="zh-CN" sz="2000" b="1" dirty="0"/>
              <a:t>,</a:t>
            </a:r>
            <a:r>
              <a:rPr lang="zh-CN" altLang="zh-CN" sz="2000" b="1" dirty="0"/>
              <a:t>线路输入名字为</a:t>
            </a:r>
            <a:r>
              <a:rPr lang="en-US" altLang="zh-CN" sz="2000" b="1" dirty="0" err="1"/>
              <a:t>verify_vector_out</a:t>
            </a:r>
            <a:r>
              <a:rPr lang="zh-CN" altLang="zh-CN" sz="2000" b="1" dirty="0"/>
              <a:t>）。最后一个数据输出完成停止计数。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dirty="0"/>
              <a:t>需要将</a:t>
            </a:r>
            <a:r>
              <a:rPr lang="en-US" altLang="zh-CN" sz="2000" b="1" dirty="0" err="1"/>
              <a:t>test_vector_in</a:t>
            </a:r>
            <a:r>
              <a:rPr lang="zh-CN" altLang="zh-CN" sz="2000" b="1" dirty="0"/>
              <a:t>，</a:t>
            </a:r>
            <a:r>
              <a:rPr lang="en-US" altLang="zh-CN" sz="2000" b="1" dirty="0" err="1"/>
              <a:t>verify_RAM</a:t>
            </a:r>
            <a:r>
              <a:rPr lang="zh-CN" altLang="zh-CN" sz="2000" b="1" dirty="0"/>
              <a:t>，</a:t>
            </a:r>
            <a:r>
              <a:rPr lang="en-US" altLang="zh-CN" sz="2000" b="1" dirty="0" err="1"/>
              <a:t>cnt_test</a:t>
            </a:r>
            <a:r>
              <a:rPr lang="zh-CN" altLang="zh-CN" sz="2000" b="1" dirty="0"/>
              <a:t>放入</a:t>
            </a:r>
            <a:r>
              <a:rPr lang="en-US" altLang="zh-CN" sz="2000" b="1" dirty="0"/>
              <a:t>ILA</a:t>
            </a:r>
            <a:r>
              <a:rPr lang="zh-CN" altLang="zh-CN" sz="2000" b="1" dirty="0"/>
              <a:t>，</a:t>
            </a:r>
            <a:r>
              <a:rPr lang="en-US" altLang="zh-CN" sz="2000" b="1" dirty="0"/>
              <a:t>ILA</a:t>
            </a:r>
            <a:r>
              <a:rPr lang="zh-CN" altLang="zh-CN" sz="2000" b="1" dirty="0"/>
              <a:t>深度设为</a:t>
            </a:r>
            <a:r>
              <a:rPr lang="en-US" altLang="zh-CN" sz="2000" b="1" dirty="0"/>
              <a:t>8192/16384(</a:t>
            </a:r>
            <a:r>
              <a:rPr lang="zh-CN" altLang="en-US" sz="2000" b="1" dirty="0"/>
              <a:t>要看到汇编指令执行的全过程</a:t>
            </a:r>
            <a:r>
              <a:rPr lang="en-US" altLang="zh-CN" sz="2000" b="1" dirty="0"/>
              <a:t>)</a:t>
            </a:r>
            <a:r>
              <a:rPr lang="zh-CN" altLang="zh-CN" sz="2000" b="1" dirty="0"/>
              <a:t>。</a:t>
            </a:r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dirty="0"/>
              <a:t>输入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输出</a:t>
            </a:r>
            <a:r>
              <a:rPr lang="zh-CN" altLang="zh-CN" sz="2000" b="1" dirty="0"/>
              <a:t>数据</a:t>
            </a:r>
            <a:r>
              <a:rPr lang="zh-CN" altLang="en-US" sz="2000" b="1" dirty="0"/>
              <a:t>均为</a:t>
            </a:r>
            <a:r>
              <a:rPr lang="en-US" altLang="zh-CN" sz="2000" b="1" dirty="0"/>
              <a:t>16</a:t>
            </a:r>
            <a:r>
              <a:rPr lang="zh-CN" altLang="en-US" sz="2000" b="1" dirty="0"/>
              <a:t>比特</a:t>
            </a:r>
            <a:r>
              <a:rPr lang="zh-CN" altLang="zh-CN" sz="2000" b="1" dirty="0"/>
              <a:t>定点</a:t>
            </a:r>
            <a:r>
              <a:rPr lang="zh-CN" altLang="en-US" sz="2000" b="1" dirty="0"/>
              <a:t>数</a:t>
            </a:r>
            <a:r>
              <a:rPr lang="zh-CN" altLang="zh-CN" sz="2000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12184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课程设计应用介绍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(2)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CEFCF553-C972-47B0-B279-DD34904B36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94" y="1371600"/>
            <a:ext cx="8532812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2150" indent="-3476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600">
                <a:solidFill>
                  <a:schemeClr val="tx1"/>
                </a:solidFill>
                <a:latin typeface="+mn-lt"/>
                <a:ea typeface="+mn-ea"/>
              </a:defRPr>
            </a:lvl2pPr>
            <a:lvl3pPr marL="987425" indent="-2936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300">
                <a:solidFill>
                  <a:schemeClr val="tx1"/>
                </a:solidFill>
                <a:latin typeface="+mn-lt"/>
                <a:ea typeface="+mn-ea"/>
              </a:defRPr>
            </a:lvl3pPr>
            <a:lvl4pPr marL="1281113" indent="-2921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15986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0558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5130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29702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427413" indent="-315913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533400" indent="-533400" eaLnBrk="1" hangingPunct="1">
              <a:lnSpc>
                <a:spcPct val="150000"/>
              </a:lnSpc>
              <a:defRPr/>
            </a:pPr>
            <a:r>
              <a:rPr lang="zh-CN" altLang="zh-CN" sz="2000" b="1" kern="0" dirty="0">
                <a:solidFill>
                  <a:srgbClr val="C00000"/>
                </a:solidFill>
              </a:rPr>
              <a:t>设计一个</a:t>
            </a:r>
            <a:r>
              <a:rPr lang="zh-CN" altLang="en-US" sz="2000" b="1" kern="0" dirty="0">
                <a:solidFill>
                  <a:srgbClr val="C00000"/>
                </a:solidFill>
              </a:rPr>
              <a:t>程序在所设计</a:t>
            </a:r>
            <a:r>
              <a:rPr lang="en-US" altLang="zh-CN" sz="2000" b="1" kern="0" dirty="0">
                <a:solidFill>
                  <a:srgbClr val="C00000"/>
                </a:solidFill>
              </a:rPr>
              <a:t>MCU</a:t>
            </a:r>
            <a:r>
              <a:rPr lang="zh-CN" altLang="zh-CN" sz="2000" b="1" kern="0" dirty="0">
                <a:solidFill>
                  <a:srgbClr val="C00000"/>
                </a:solidFill>
              </a:rPr>
              <a:t>完成对</a:t>
            </a:r>
            <a:r>
              <a:rPr lang="en-US" altLang="zh-CN" sz="2000" b="1" kern="0" dirty="0">
                <a:solidFill>
                  <a:srgbClr val="C00000"/>
                </a:solidFill>
              </a:rPr>
              <a:t>8</a:t>
            </a:r>
            <a:r>
              <a:rPr lang="zh-CN" altLang="en-US" sz="2000" b="1" kern="0" dirty="0">
                <a:solidFill>
                  <a:srgbClr val="C00000"/>
                </a:solidFill>
              </a:rPr>
              <a:t>点变换</a:t>
            </a:r>
            <a:endParaRPr lang="en-US" altLang="zh-CN" sz="2000" b="1" kern="0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kern="0" dirty="0"/>
              <a:t>考试验证时，会检查</a:t>
            </a:r>
            <a:r>
              <a:rPr lang="en-US" altLang="zh-CN" sz="2000" b="1" kern="0" dirty="0" err="1"/>
              <a:t>test_vector_in</a:t>
            </a:r>
            <a:r>
              <a:rPr lang="zh-CN" altLang="zh-CN" sz="2000" b="1" kern="0" dirty="0"/>
              <a:t>，</a:t>
            </a:r>
            <a:r>
              <a:rPr lang="en-US" altLang="zh-CN" sz="2000" b="1" kern="0" dirty="0" err="1"/>
              <a:t>verify_RAM</a:t>
            </a:r>
            <a:r>
              <a:rPr lang="zh-CN" altLang="zh-CN" sz="2000" b="1" kern="0" dirty="0"/>
              <a:t>的结果是否正确，以及功能完成后计数器的计数总量</a:t>
            </a:r>
            <a:endParaRPr lang="en-US" altLang="zh-CN" sz="2000" b="1" kern="0" dirty="0"/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kern="0" dirty="0"/>
              <a:t>所有结果都是上板后结果，不再以</a:t>
            </a:r>
            <a:r>
              <a:rPr lang="en-US" altLang="zh-CN" sz="2000" b="1" kern="0" dirty="0"/>
              <a:t>simulation</a:t>
            </a:r>
            <a:r>
              <a:rPr lang="zh-CN" altLang="zh-CN" sz="2000" b="1" kern="0" dirty="0"/>
              <a:t>结果进行任何参考。正确性就只看</a:t>
            </a:r>
            <a:r>
              <a:rPr lang="en-US" altLang="zh-CN" sz="2000" b="1" kern="0" dirty="0" err="1"/>
              <a:t>test_vector_in</a:t>
            </a:r>
            <a:r>
              <a:rPr lang="zh-CN" altLang="zh-CN" sz="2000" b="1" kern="0" dirty="0"/>
              <a:t>，</a:t>
            </a:r>
            <a:r>
              <a:rPr lang="en-US" altLang="zh-CN" sz="2000" b="1" kern="0" dirty="0" err="1"/>
              <a:t>verify_RAM</a:t>
            </a:r>
            <a:r>
              <a:rPr lang="zh-CN" altLang="zh-CN" sz="2000" b="1" kern="0" dirty="0"/>
              <a:t>，而且必须以现场提供的</a:t>
            </a:r>
            <a:r>
              <a:rPr lang="en-US" altLang="zh-CN" sz="2000" b="1" kern="0" dirty="0" err="1"/>
              <a:t>coe</a:t>
            </a:r>
            <a:r>
              <a:rPr lang="zh-CN" altLang="zh-CN" sz="2000" b="1" kern="0" dirty="0"/>
              <a:t>进行测试为准</a:t>
            </a:r>
            <a:endParaRPr lang="en-US" altLang="zh-CN" sz="2000" b="1" kern="0" dirty="0"/>
          </a:p>
          <a:p>
            <a:pPr lvl="1">
              <a:lnSpc>
                <a:spcPct val="150000"/>
              </a:lnSpc>
              <a:defRPr/>
            </a:pPr>
            <a:r>
              <a:rPr lang="en-US" altLang="zh-CN" sz="2000" b="1" kern="0" dirty="0"/>
              <a:t>Timing report</a:t>
            </a:r>
            <a:r>
              <a:rPr lang="zh-CN" altLang="zh-CN" sz="2000" b="1" kern="0" dirty="0"/>
              <a:t>必须满足所有时序，若有</a:t>
            </a:r>
            <a:r>
              <a:rPr lang="en-US" altLang="zh-CN" sz="2000" b="1" kern="0" dirty="0"/>
              <a:t>violation</a:t>
            </a:r>
            <a:r>
              <a:rPr lang="zh-CN" altLang="zh-CN" sz="2000" b="1" kern="0" dirty="0"/>
              <a:t>则设计不为成果，最后计算时间就是</a:t>
            </a:r>
            <a:r>
              <a:rPr lang="zh-CN" altLang="en-US" sz="2000" b="1" kern="0" dirty="0"/>
              <a:t>（</a:t>
            </a:r>
            <a:r>
              <a:rPr lang="en-US" altLang="zh-CN" sz="2000" b="1" kern="0" dirty="0" err="1"/>
              <a:t>cnt</a:t>
            </a:r>
            <a:r>
              <a:rPr lang="zh-CN" altLang="zh-CN" sz="2000" b="1" kern="0" dirty="0"/>
              <a:t>计数时间</a:t>
            </a:r>
            <a:r>
              <a:rPr lang="zh-CN" altLang="en-US" sz="2000" b="1" kern="0" dirty="0"/>
              <a:t>）</a:t>
            </a:r>
            <a:r>
              <a:rPr lang="en-US" altLang="zh-CN" sz="2000" b="1" kern="0" dirty="0"/>
              <a:t>×</a:t>
            </a:r>
            <a:r>
              <a:rPr lang="zh-CN" altLang="zh-CN" sz="2000" b="1" kern="0" dirty="0"/>
              <a:t>时钟周期</a:t>
            </a:r>
            <a:endParaRPr lang="en-US" altLang="zh-CN" sz="2000" b="1" kern="0" dirty="0"/>
          </a:p>
          <a:p>
            <a:pPr lvl="1">
              <a:lnSpc>
                <a:spcPct val="150000"/>
              </a:lnSpc>
              <a:defRPr/>
            </a:pPr>
            <a:r>
              <a:rPr lang="zh-CN" altLang="zh-CN" sz="2000" b="1" kern="0" dirty="0"/>
              <a:t>硬件开销为</a:t>
            </a:r>
            <a:r>
              <a:rPr lang="en-US" altLang="zh-CN" sz="2000" b="1" kern="0" dirty="0"/>
              <a:t>6*LUT+10*FF</a:t>
            </a:r>
          </a:p>
        </p:txBody>
      </p:sp>
    </p:spTree>
    <p:extLst>
      <p:ext uri="{BB962C8B-B14F-4D97-AF65-F5344CB8AC3E}">
        <p14:creationId xmlns:p14="http://schemas.microsoft.com/office/powerpoint/2010/main" val="37790604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课程设计加分项说明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E0547A-B960-4065-9064-5AE379FAC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18" y="1371600"/>
            <a:ext cx="8640763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+mn-ea"/>
                <a:ea typeface="+mn-ea"/>
              </a:rPr>
              <a:t>加分项：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采用了课程教学内容以外的技术成功应用于本次课程设计</a:t>
            </a:r>
            <a:endParaRPr lang="en-US" altLang="zh-CN" sz="2000" b="1" dirty="0">
              <a:solidFill>
                <a:srgbClr val="C00000"/>
              </a:solidFill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+mn-ea"/>
                <a:ea typeface="+mn-ea"/>
              </a:rPr>
              <a:t>对加分项的设计内容在设计报告中，以“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创新设计</a:t>
            </a:r>
            <a:r>
              <a:rPr lang="zh-CN" altLang="en-US" sz="2000" b="1" dirty="0">
                <a:latin typeface="+mn-ea"/>
                <a:ea typeface="+mn-ea"/>
              </a:rPr>
              <a:t>”条目进行说明，包括设计方法、实现技术路径、对该技术的测试等；并在设计整体验收时向测试老师说明；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+mn-ea"/>
                <a:ea typeface="+mn-ea"/>
              </a:rPr>
              <a:t>加分值只计入课程设计成绩，有教师团队共同决定加分值。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zh-CN" altLang="en-US" sz="2000" b="1" dirty="0">
              <a:latin typeface="Tahom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9839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28600"/>
            <a:ext cx="7467600" cy="858838"/>
          </a:xfrm>
        </p:spPr>
        <p:txBody>
          <a:bodyPr/>
          <a:lstStyle/>
          <a:p>
            <a:pPr eaLnBrk="1" hangingPunct="1"/>
            <a:r>
              <a:rPr lang="zh-CN" alt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提醒</a:t>
            </a:r>
            <a:endParaRPr lang="zh-CN" altLang="en-US" sz="3600" dirty="0">
              <a:ea typeface="楷体_GB2312" pitchFamily="49" charset="-122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E0547A-B960-4065-9064-5AE379FAC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618" y="1371600"/>
            <a:ext cx="8640763" cy="489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+mn-ea"/>
                <a:ea typeface="+mn-ea"/>
              </a:rPr>
              <a:t>学有余力的同学，鼓励两个赛题同时参加，但是一定要实现考虑清楚，追求速度还是追求效率，目标驱动设计。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+mn-ea"/>
                <a:ea typeface="+mn-ea"/>
              </a:rPr>
              <a:t>从往年情况看，同学们往往扎堆选择看起来简单的那个赛题，使得看起来困难的题反而更容易获得好的排名，请大家做好充分论证和讨论。</a:t>
            </a:r>
            <a:endParaRPr lang="en-US" altLang="zh-CN" sz="2000" b="1" dirty="0">
              <a:latin typeface="+mn-ea"/>
              <a:ea typeface="+mn-ea"/>
            </a:endParaRP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</a:rPr>
              <a:t>非常不鼓励小组内按赛题、按方案拆分人员等</a:t>
            </a:r>
            <a:r>
              <a:rPr lang="zh-CN" altLang="en-US" sz="2000" b="1" dirty="0">
                <a:latin typeface="+mn-ea"/>
                <a:ea typeface="+mn-ea"/>
              </a:rPr>
              <a:t>。</a:t>
            </a:r>
          </a:p>
          <a:p>
            <a:pPr marL="342900" indent="-342900">
              <a:lnSpc>
                <a:spcPct val="15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lang="zh-CN" altLang="en-US" sz="2000" b="1" dirty="0">
              <a:latin typeface="Tahoma" pitchFamily="3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1029949-8DB4-4711-865D-DB7BDEBB7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948" y="3886200"/>
            <a:ext cx="7070103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6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etwork">
  <a:themeElements>
    <a:clrScheme name="Network 10">
      <a:dk1>
        <a:srgbClr val="000000"/>
      </a:dk1>
      <a:lt1>
        <a:srgbClr val="FFFFFF"/>
      </a:lt1>
      <a:dk2>
        <a:srgbClr val="330066"/>
      </a:dk2>
      <a:lt2>
        <a:srgbClr val="808080"/>
      </a:lt2>
      <a:accent1>
        <a:srgbClr val="CCCC00"/>
      </a:accent1>
      <a:accent2>
        <a:srgbClr val="669999"/>
      </a:accent2>
      <a:accent3>
        <a:srgbClr val="FFFFFF"/>
      </a:accent3>
      <a:accent4>
        <a:srgbClr val="000000"/>
      </a:accent4>
      <a:accent5>
        <a:srgbClr val="E2E2AA"/>
      </a:accent5>
      <a:accent6>
        <a:srgbClr val="5C8A8A"/>
      </a:accent6>
      <a:hlink>
        <a:srgbClr val="7E9CE8"/>
      </a:hlink>
      <a:folHlink>
        <a:srgbClr val="D8D8EC"/>
      </a:folHlink>
    </a:clrScheme>
    <a:fontScheme name="Network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15531</TotalTime>
  <Words>1558</Words>
  <Application>Microsoft Office PowerPoint</Application>
  <PresentationFormat>全屏显示(4:3)</PresentationFormat>
  <Paragraphs>102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方正舒体</vt:lpstr>
      <vt:lpstr>楷体_GB2312</vt:lpstr>
      <vt:lpstr>宋体</vt:lpstr>
      <vt:lpstr>Arial</vt:lpstr>
      <vt:lpstr>Calibri</vt:lpstr>
      <vt:lpstr>Tahoma</vt:lpstr>
      <vt:lpstr>Times New Roman</vt:lpstr>
      <vt:lpstr>Wingdings</vt:lpstr>
      <vt:lpstr>Network</vt:lpstr>
      <vt:lpstr>课程设计要求</vt:lpstr>
      <vt:lpstr>课程设计概述</vt:lpstr>
      <vt:lpstr>课程设计说明</vt:lpstr>
      <vt:lpstr>课程设计验收</vt:lpstr>
      <vt:lpstr>课程设计报告</vt:lpstr>
      <vt:lpstr>课程设计评分规则</vt:lpstr>
      <vt:lpstr>课程设计应用介绍(1)</vt:lpstr>
      <vt:lpstr>课程设计应用介绍(1)</vt:lpstr>
      <vt:lpstr>课程设计应用介绍(1)</vt:lpstr>
      <vt:lpstr>课程设计应用介绍(2)</vt:lpstr>
      <vt:lpstr>课程设计应用介绍(2)</vt:lpstr>
      <vt:lpstr>课程设计应用介绍(2)</vt:lpstr>
      <vt:lpstr>课程设计加分项说明</vt:lpstr>
      <vt:lpstr>提醒</vt:lpstr>
    </vt:vector>
  </TitlesOfParts>
  <Company>private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8  Multiplexing</dc:title>
  <dc:creator>ymmao</dc:creator>
  <cp:lastModifiedBy>Kaining Han</cp:lastModifiedBy>
  <cp:revision>1233</cp:revision>
  <dcterms:created xsi:type="dcterms:W3CDTF">2003-06-01T14:36:23Z</dcterms:created>
  <dcterms:modified xsi:type="dcterms:W3CDTF">2026-05-28T06:54:52Z</dcterms:modified>
</cp:coreProperties>
</file>